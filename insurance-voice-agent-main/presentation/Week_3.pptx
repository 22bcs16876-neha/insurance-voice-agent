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147483155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303AC-E55F-ED36-45C3-88B03C74B0EC}" v="12" dt="2026-07-13T13:27:36.867"/>
    <p1510:client id="{6F18E368-B3DC-9017-484D-3780C4B4D6E7}" v="15" dt="2026-07-13T13:21:34.493"/>
    <p1510:client id="{803D62D8-F2B6-B7F1-084F-61EE15190E36}" v="1" dt="2026-07-13T16:00:34.135"/>
    <p1510:client id="{B16DC103-C1E0-616B-D2A0-024E5AE460D9}" v="134" dt="2026-07-13T15:12:45.061"/>
    <p1510:client id="{DA4CE7D5-9110-4BB4-9D4A-BC0B4DD95AEC}" v="2" dt="2026-07-12T14:07:51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89D80-64AE-42B8-8B29-DDFFD01F3C9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27D8-FEDB-41C7-9BA3-9590D6A40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70DD1F-75D0-4773-A032-A948BB2FFC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792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439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83DE-A5DF-4D7B-044C-1A42F919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0;p10">
            <a:extLst>
              <a:ext uri="{FF2B5EF4-FFF2-40B4-BE49-F238E27FC236}">
                <a16:creationId xmlns:a16="http://schemas.microsoft.com/office/drawing/2014/main" id="{07A5B3FF-143C-FA01-C5B1-E88FCB55A0DD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724" y="-1"/>
            <a:ext cx="12203723" cy="68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CF1618CB-5F78-7DD4-704A-EC6F5A65F3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71" y="0"/>
            <a:ext cx="1218895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7F05687-4D40-8B97-DA5A-134A535415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6F2F42-E51E-1DA4-428A-1F834797A2C4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6530"/>
          <a:stretch/>
        </p:blipFill>
        <p:spPr>
          <a:xfrm>
            <a:off x="1905000" y="4240332"/>
            <a:ext cx="3396531" cy="262755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E4D1624-45CA-8871-4CE1-203F35005D08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6530"/>
          <a:stretch/>
        </p:blipFill>
        <p:spPr>
          <a:xfrm rot="8846171">
            <a:off x="206734" y="91761"/>
            <a:ext cx="3396531" cy="262755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985DCA6-E5E2-9EEB-4C5B-F76FB9778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4329" y="1417066"/>
            <a:ext cx="1295400" cy="84351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B2F513-DF81-336F-E513-4FA6E9518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3175" y="2503713"/>
            <a:ext cx="6324600" cy="3200400"/>
          </a:xfrm>
        </p:spPr>
        <p:txBody>
          <a:bodyPr/>
          <a:lstStyle/>
          <a:p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Conversational AI</a:t>
            </a:r>
            <a:br>
              <a:rPr lang="en-US" sz="320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Voice Agent for Insurance</a:t>
            </a: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sz="3200" b="1">
                <a:solidFill>
                  <a:schemeClr val="tx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280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Claims Automation using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CX Agent Studio</a:t>
            </a:r>
            <a:br>
              <a:rPr lang="en-US" sz="280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br>
              <a:rPr lang="en-US" sz="3200"/>
            </a:br>
            <a:br>
              <a:rPr lang="en-US" sz="3200">
                <a:solidFill>
                  <a:schemeClr val="tx2">
                    <a:lumMod val="75000"/>
                  </a:schemeClr>
                </a:solidFill>
              </a:rPr>
            </a:br>
            <a:endParaRPr lang="en-US" sz="32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Subtitle 23"/>
          <p:cNvSpPr>
            <a:spLocks noGrp="1"/>
          </p:cNvSpPr>
          <p:nvPr>
            <p:ph type="subTitle" idx="1"/>
          </p:nvPr>
        </p:nvSpPr>
        <p:spPr>
          <a:xfrm rot="10800000" flipV="1">
            <a:off x="2543175" y="5548762"/>
            <a:ext cx="6324600" cy="121512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                                                                                             Presented by: Team 5</a:t>
            </a:r>
          </a:p>
          <a:p>
            <a:r>
              <a:rPr lang="en-US" sz="1600" b="1">
                <a:solidFill>
                  <a:schemeClr val="tx1"/>
                </a:solidFill>
              </a:rPr>
              <a:t>                                                            Business Analysts, Testers &amp; Developers</a:t>
            </a:r>
          </a:p>
          <a:p>
            <a:endParaRPr lang="en-US" sz="1600" b="1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     </a:t>
            </a:r>
          </a:p>
          <a:p>
            <a:r>
              <a:rPr lang="en-US" sz="1400" b="1">
                <a:solidFill>
                  <a:schemeClr val="tx1"/>
                </a:solidFill>
              </a:rPr>
              <a:t>         </a:t>
            </a:r>
            <a:r>
              <a:rPr lang="en-US" sz="1400">
                <a:solidFill>
                  <a:schemeClr val="tx1"/>
                </a:solidFill>
              </a:rPr>
              <a:t>Final Project Presentation | EXL Internship 2026                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CEAC4EDA-C61B-8328-A5AA-25CE492523E3}"/>
              </a:ext>
            </a:extLst>
          </p:cNvPr>
          <p:cNvSpPr/>
          <p:nvPr/>
        </p:nvSpPr>
        <p:spPr>
          <a:xfrm>
            <a:off x="2791097" y="4735286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3200" b="1"/>
          </a:p>
        </p:txBody>
      </p:sp>
    </p:spTree>
    <p:extLst>
      <p:ext uri="{BB962C8B-B14F-4D97-AF65-F5344CB8AC3E}">
        <p14:creationId xmlns:p14="http://schemas.microsoft.com/office/powerpoint/2010/main" val="236532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Multi-agent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57400"/>
            <a:ext cx="658368" cy="658368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A37"/>
                </a:solidFill>
                <a:latin typeface="Aptos"/>
              </a:rPr>
              <a:t>Customer</a:t>
            </a:r>
            <a:br/>
            <a:r>
              <a:rPr sz="1500" b="1">
                <a:solidFill>
                  <a:srgbClr val="222A37"/>
                </a:solidFill>
                <a:latin typeface="Aptos"/>
              </a:rPr>
              <a:t>Call</a:t>
            </a:r>
          </a:p>
        </p:txBody>
      </p:sp>
      <p:sp>
        <p:nvSpPr>
          <p:cNvPr id="10" name="Oval 9"/>
          <p:cNvSpPr/>
          <p:nvPr/>
        </p:nvSpPr>
        <p:spPr>
          <a:xfrm>
            <a:off x="1965960" y="2057400"/>
            <a:ext cx="658368" cy="658368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8892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A37"/>
                </a:solidFill>
                <a:latin typeface="Aptos"/>
              </a:rPr>
              <a:t>Authentication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3520440" y="2057400"/>
            <a:ext cx="658368" cy="658368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8892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A37"/>
                </a:solidFill>
                <a:latin typeface="Aptos"/>
              </a:rPr>
              <a:t>Front Desk</a:t>
            </a:r>
            <a:br/>
            <a:r>
              <a:rPr sz="1500" b="1">
                <a:solidFill>
                  <a:srgbClr val="222A37"/>
                </a:solidFill>
                <a:latin typeface="Aptos"/>
              </a:rPr>
              <a:t>Agent</a:t>
            </a:r>
          </a:p>
        </p:txBody>
      </p:sp>
      <p:sp>
        <p:nvSpPr>
          <p:cNvPr id="14" name="Oval 13"/>
          <p:cNvSpPr/>
          <p:nvPr/>
        </p:nvSpPr>
        <p:spPr>
          <a:xfrm>
            <a:off x="8001000" y="2057400"/>
            <a:ext cx="658368" cy="658368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8892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A37"/>
                </a:solidFill>
                <a:latin typeface="Aptos"/>
              </a:rPr>
              <a:t>Backend</a:t>
            </a:r>
            <a:br/>
            <a:r>
              <a:rPr sz="1500" b="1">
                <a:solidFill>
                  <a:srgbClr val="222A37"/>
                </a:solidFill>
                <a:latin typeface="Aptos"/>
              </a:rPr>
              <a:t>APIs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0" y="2057400"/>
            <a:ext cx="658368" cy="658368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78892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A37"/>
                </a:solidFill>
                <a:latin typeface="Aptos"/>
              </a:rPr>
              <a:t>BigQuery</a:t>
            </a:r>
          </a:p>
        </p:txBody>
      </p:sp>
      <p:sp>
        <p:nvSpPr>
          <p:cNvPr id="18" name="Oval 17"/>
          <p:cNvSpPr/>
          <p:nvPr/>
        </p:nvSpPr>
        <p:spPr>
          <a:xfrm>
            <a:off x="10927080" y="2057400"/>
            <a:ext cx="658368" cy="658368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78892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2A37"/>
                </a:solidFill>
                <a:latin typeface="Aptos"/>
              </a:rPr>
              <a:t>Voice</a:t>
            </a:r>
            <a:br/>
            <a:r>
              <a:rPr sz="1500" b="1">
                <a:solidFill>
                  <a:srgbClr val="222A37"/>
                </a:solidFill>
                <a:latin typeface="Aptos"/>
              </a:rPr>
              <a:t>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325880"/>
            <a:ext cx="2971800" cy="4023360"/>
          </a:xfrm>
          <a:prstGeom prst="roundRect">
            <a:avLst/>
          </a:prstGeom>
          <a:solidFill>
            <a:srgbClr val="F7F8FA"/>
          </a:solidFill>
          <a:ln w="22860"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1481328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44F13"/>
                </a:solidFill>
                <a:latin typeface="Aptos"/>
              </a:rPr>
              <a:t>SPECIALIST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1965960"/>
            <a:ext cx="2331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10912" y="2029967"/>
            <a:ext cx="292608" cy="292608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993391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22A37"/>
                </a:solidFill>
                <a:latin typeface="Aptos"/>
              </a:rPr>
              <a:t>Policy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2560320"/>
            <a:ext cx="2331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10912" y="2624327"/>
            <a:ext cx="292608" cy="292608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587751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22A37"/>
                </a:solidFill>
                <a:latin typeface="Aptos"/>
              </a:rPr>
              <a:t>Claims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3154680"/>
            <a:ext cx="2331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10912" y="3218688"/>
            <a:ext cx="292608" cy="292608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118104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22A37"/>
                </a:solidFill>
                <a:latin typeface="Aptos"/>
              </a:rPr>
              <a:t>Onboarding</a:t>
            </a:r>
            <a:br/>
            <a:r>
              <a:rPr sz="1150" b="1">
                <a:solidFill>
                  <a:srgbClr val="222A37"/>
                </a:solidFill>
                <a:latin typeface="Aptos"/>
              </a:rPr>
              <a:t>Health • Life • Motor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3749039"/>
            <a:ext cx="2331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10912" y="3813048"/>
            <a:ext cx="292608" cy="292608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77647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22A37"/>
                </a:solidFill>
                <a:latin typeface="Aptos"/>
              </a:rPr>
              <a:t>Update Request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4343400"/>
            <a:ext cx="23317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10912" y="4407408"/>
            <a:ext cx="292608" cy="292608"/>
          </a:xfrm>
          <a:prstGeom prst="ellipse">
            <a:avLst/>
          </a:prstGeom>
          <a:solidFill>
            <a:srgbClr val="CD3737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37083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22A37"/>
                </a:solidFill>
                <a:latin typeface="Aptos"/>
              </a:rPr>
              <a:t>Human Escalation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52728" y="2395728"/>
            <a:ext cx="713232" cy="0"/>
          </a:xfrm>
          <a:prstGeom prst="line">
            <a:avLst/>
          </a:prstGeom>
          <a:ln w="2794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24328" y="2395728"/>
            <a:ext cx="896112" cy="0"/>
          </a:xfrm>
          <a:prstGeom prst="line">
            <a:avLst/>
          </a:prstGeom>
          <a:ln w="2794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78808" y="2395728"/>
            <a:ext cx="393192" cy="0"/>
          </a:xfrm>
          <a:prstGeom prst="line">
            <a:avLst/>
          </a:prstGeom>
          <a:ln w="2794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43800" y="2395728"/>
            <a:ext cx="457200" cy="0"/>
          </a:xfrm>
          <a:prstGeom prst="line">
            <a:avLst/>
          </a:prstGeom>
          <a:ln w="2794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59368" y="2395728"/>
            <a:ext cx="941832" cy="0"/>
          </a:xfrm>
          <a:prstGeom prst="line">
            <a:avLst/>
          </a:prstGeom>
          <a:ln w="2794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59568" y="2395728"/>
            <a:ext cx="667512" cy="0"/>
          </a:xfrm>
          <a:prstGeom prst="line">
            <a:avLst/>
          </a:prstGeom>
          <a:ln w="2794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77240" y="5577840"/>
            <a:ext cx="10652760" cy="594360"/>
          </a:xfrm>
          <a:prstGeom prst="roundRect">
            <a:avLst/>
          </a:prstGeom>
          <a:solidFill>
            <a:srgbClr val="142A50"/>
          </a:solidFill>
          <a:ln w="15240"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Verified access  •  Grounded responses  •  Modular design  •  Scalable customer journeys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Business Need &amp; Our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Problem →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1663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89320" y="1143000"/>
            <a:ext cx="55778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143000"/>
            <a:ext cx="5166360" cy="594360"/>
          </a:xfrm>
          <a:prstGeom prst="roundRect">
            <a:avLst/>
          </a:prstGeom>
          <a:solidFill>
            <a:srgbClr val="CD3737"/>
          </a:solidFill>
          <a:ln w="15240"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261872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4480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42A50"/>
                </a:solidFill>
                <a:latin typeface="Aptos"/>
              </a:rPr>
              <a:t>Insurance support is still heavily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480560" cy="2651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600">
                <a:solidFill>
                  <a:srgbClr val="222A37"/>
                </a:solidFill>
                <a:latin typeface="Aptos"/>
              </a:rPr>
              <a:t>• High call volumes and longer waiting times</a:t>
            </a:r>
          </a:p>
          <a:p>
            <a:pPr>
              <a:spcAft>
                <a:spcPts val="7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600">
                <a:solidFill>
                  <a:srgbClr val="222A37"/>
                </a:solidFill>
                <a:latin typeface="Aptos"/>
              </a:rPr>
              <a:t>• Repetitive policy and claim requests</a:t>
            </a:r>
          </a:p>
          <a:p>
            <a:pPr>
              <a:spcAft>
                <a:spcPts val="7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600">
                <a:solidFill>
                  <a:srgbClr val="222A37"/>
                </a:solidFill>
                <a:latin typeface="Aptos"/>
              </a:rPr>
              <a:t>• Inconsistent answers across channels</a:t>
            </a:r>
          </a:p>
          <a:p>
            <a:pPr>
              <a:spcAft>
                <a:spcPts val="7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600">
                <a:solidFill>
                  <a:srgbClr val="222A37"/>
                </a:solidFill>
                <a:latin typeface="Aptos"/>
              </a:rPr>
              <a:t>• Higher operational effort and cost</a:t>
            </a:r>
          </a:p>
          <a:p>
            <a:pPr>
              <a:spcAft>
                <a:spcPts val="7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600">
                <a:solidFill>
                  <a:srgbClr val="222A37"/>
                </a:solidFill>
                <a:latin typeface="Aptos"/>
              </a:rPr>
              <a:t>• Poor customer experience during peak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143000"/>
            <a:ext cx="5577840" cy="594360"/>
          </a:xfrm>
          <a:prstGeom prst="roundRect">
            <a:avLst/>
          </a:prstGeom>
          <a:solidFill>
            <a:srgbClr val="268F4A"/>
          </a:solidFill>
          <a:ln w="15240"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61872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42A50"/>
                </a:solidFill>
                <a:latin typeface="Aptos"/>
              </a:rPr>
              <a:t>A secure, multi-agent insurance voice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470916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600">
                <a:solidFill>
                  <a:srgbClr val="222A37"/>
                </a:solidFill>
                <a:latin typeface="Aptos"/>
              </a:rPr>
              <a:t>• Authenticates customers using phone, DOB and one security question</a:t>
            </a:r>
            <a:br/>
            <a:r>
              <a:rPr sz="1600">
                <a:solidFill>
                  <a:srgbClr val="222A37"/>
                </a:solidFill>
                <a:latin typeface="Aptos"/>
              </a:rPr>
              <a:t>• Detects intent and routes to the right specialist agent</a:t>
            </a:r>
            <a:br/>
            <a:r>
              <a:rPr sz="1600">
                <a:solidFill>
                  <a:srgbClr val="222A37"/>
                </a:solidFill>
                <a:latin typeface="Aptos"/>
              </a:rPr>
              <a:t>• Automates policy, claims, onboarding and update journeys</a:t>
            </a:r>
            <a:br/>
            <a:r>
              <a:rPr sz="1600">
                <a:solidFill>
                  <a:srgbClr val="222A37"/>
                </a:solidFill>
                <a:latin typeface="Aptos"/>
              </a:rPr>
              <a:t>• Uses backend APIs and BigQuery for grounded responses</a:t>
            </a:r>
            <a:br/>
            <a:r>
              <a:rPr sz="1600">
                <a:solidFill>
                  <a:srgbClr val="222A37"/>
                </a:solidFill>
                <a:latin typeface="Aptos"/>
              </a:rPr>
              <a:t>• Escalates to a human agent with conversation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>
                <a:solidFill>
                  <a:srgbClr val="646E7D"/>
                </a:solidFill>
                <a:latin typeface="Aptos"/>
              </a:rPr>
              <a:t>Nine core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07008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362456"/>
            <a:ext cx="384048" cy="384048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316736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Secure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01368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Phone, DOB and one security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07008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362456"/>
            <a:ext cx="384048" cy="384048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316736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Policy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01368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Policy details, benefits information and policy renewal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207008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48472" y="1362456"/>
            <a:ext cx="384048" cy="384048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316736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Claims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1801368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Claim status tracking and claim initiation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743200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8952" y="2898648"/>
            <a:ext cx="384048" cy="384048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285292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337560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Health, life and motor insurance onboarding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743200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53712" y="2898648"/>
            <a:ext cx="384048" cy="384048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85292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Update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337560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Update registered customer details securely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2743200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48472" y="2898648"/>
            <a:ext cx="384048" cy="384048"/>
          </a:xfrm>
          <a:prstGeom prst="ellipse">
            <a:avLst/>
          </a:prstGeom>
          <a:solidFill>
            <a:srgbClr val="CD3737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285292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Human Escalation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337560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Case creation with conversation context transfer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279392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8952" y="4434840"/>
            <a:ext cx="384048" cy="384048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438912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Multi-policy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873752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List, resolve and select the correct policy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279392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53712" y="4434840"/>
            <a:ext cx="384048" cy="384048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38912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Proactive Renewal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873752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Timely renewal support and guided next steps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4279392"/>
            <a:ext cx="34290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48472" y="4434840"/>
            <a:ext cx="384048" cy="384048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42248" y="438912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A50"/>
                </a:solidFill>
                <a:latin typeface="Aptos"/>
              </a:rPr>
              <a:t>Resilient Conversations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2" y="4873752"/>
            <a:ext cx="3099816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A37"/>
                </a:solidFill>
                <a:latin typeface="Aptos"/>
              </a:rPr>
              <a:t>Fallbacks, retries, validation and error handling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833872"/>
            <a:ext cx="10652760" cy="347472"/>
          </a:xfrm>
          <a:prstGeom prst="roundRect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Primary journeys: policy services • claims • onboarding • update request •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Three-Week Delivery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Plan → Build → Validate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5204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520440" cy="841248"/>
          </a:xfrm>
          <a:prstGeom prst="roundRect">
            <a:avLst/>
          </a:prstGeom>
          <a:solidFill>
            <a:srgbClr val="142A50"/>
          </a:solidFill>
          <a:ln w="15240"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3154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1848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Foundation &amp; Happy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2971800" cy="2423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Defined core intents and personas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Designed conversation flows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Implemented secure authentication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Integrated mock APIs and sample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83480"/>
            <a:ext cx="2971800" cy="502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2697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A50"/>
                </a:solidFill>
                <a:latin typeface="Aptos"/>
              </a:rPr>
              <a:t>Functional bot for primary journeys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3088" y="3474720"/>
            <a:ext cx="256032" cy="0"/>
          </a:xfrm>
          <a:prstGeom prst="line">
            <a:avLst/>
          </a:prstGeom>
          <a:ln w="3810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1234440"/>
            <a:ext cx="35204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34840" y="1234440"/>
            <a:ext cx="3520440" cy="841248"/>
          </a:xfrm>
          <a:prstGeom prst="roundRect">
            <a:avLst/>
          </a:prstGeom>
          <a:solidFill>
            <a:srgbClr val="268F4A"/>
          </a:solidFill>
          <a:ln w="15240"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1353312"/>
            <a:ext cx="3154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61848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Robustness &amp;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86000"/>
            <a:ext cx="2971800" cy="2423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420">
                <a:solidFill>
                  <a:srgbClr val="222A37"/>
                </a:solidFill>
                <a:latin typeface="Aptos"/>
              </a:rPr>
              <a:t>• Integrated backend APIs and BigQuery data</a:t>
            </a:r>
            <a:br/>
            <a:r>
              <a:rPr sz="1420">
                <a:solidFill>
                  <a:srgbClr val="222A37"/>
                </a:solidFill>
                <a:latin typeface="Aptos"/>
              </a:rPr>
              <a:t>• Added invalid IDs and no-policy cases</a:t>
            </a:r>
            <a:br/>
            <a:r>
              <a:rPr sz="1420">
                <a:solidFill>
                  <a:srgbClr val="222A37"/>
                </a:solidFill>
                <a:latin typeface="Aptos"/>
              </a:rPr>
              <a:t>• Implemented retries, fallbacks and checkpoints</a:t>
            </a:r>
            <a:br/>
            <a:r>
              <a:rPr sz="1420">
                <a:solidFill>
                  <a:srgbClr val="222A37"/>
                </a:solidFill>
                <a:latin typeface="Aptos"/>
              </a:rPr>
              <a:t>• Performed manual and golden testing</a:t>
            </a:r>
            <a:br/>
            <a:r>
              <a:rPr sz="1420">
                <a:solidFill>
                  <a:srgbClr val="222A37"/>
                </a:solidFill>
                <a:latin typeface="Aptos"/>
              </a:rPr>
              <a:t>• Added escalation with context transfer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983480"/>
            <a:ext cx="2971800" cy="502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5074920"/>
            <a:ext cx="2697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8F4A"/>
                </a:solidFill>
                <a:latin typeface="Aptos"/>
              </a:rPr>
              <a:t>Reliable and test-ready solution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73568" y="3474720"/>
            <a:ext cx="256032" cy="0"/>
          </a:xfrm>
          <a:prstGeom prst="line">
            <a:avLst/>
          </a:prstGeom>
          <a:ln w="3810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75320" y="1234440"/>
            <a:ext cx="35204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75320" y="1234440"/>
            <a:ext cx="3520440" cy="841248"/>
          </a:xfrm>
          <a:prstGeom prst="roundRect">
            <a:avLst/>
          </a:prstGeom>
          <a:solidFill>
            <a:srgbClr val="F44F13"/>
          </a:solidFill>
          <a:ln w="15240"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1353312"/>
            <a:ext cx="3154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61848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Evaluation &amp; Finalisation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286000"/>
            <a:ext cx="2971800" cy="2423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450">
                <a:solidFill>
                  <a:srgbClr val="222A37"/>
                </a:solidFill>
                <a:latin typeface="Aptos"/>
              </a:rPr>
              <a:t>• Completed scenario-based and end-to-end testing</a:t>
            </a:r>
            <a:br/>
            <a:r>
              <a:rPr sz="1450">
                <a:solidFill>
                  <a:srgbClr val="222A37"/>
                </a:solidFill>
                <a:latin typeface="Aptos"/>
              </a:rPr>
              <a:t>• Validated multi-policy and onboarding journeys</a:t>
            </a:r>
            <a:br/>
            <a:r>
              <a:rPr sz="1450">
                <a:solidFill>
                  <a:srgbClr val="222A37"/>
                </a:solidFill>
                <a:latin typeface="Aptos"/>
              </a:rPr>
              <a:t>• Fixed defects and refined prompts</a:t>
            </a:r>
            <a:br/>
            <a:r>
              <a:rPr sz="1450">
                <a:solidFill>
                  <a:srgbClr val="222A37"/>
                </a:solidFill>
                <a:latin typeface="Aptos"/>
              </a:rPr>
              <a:t>• Tracked KPIs and prepared the final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983480"/>
            <a:ext cx="2971800" cy="5029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0" y="5074920"/>
            <a:ext cx="2697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4F13"/>
                </a:solidFill>
                <a:latin typeface="Aptos"/>
              </a:rPr>
              <a:t>Integrated, scalable and demo-ready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Quality across every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5204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520440" cy="713232"/>
          </a:xfrm>
          <a:prstGeom prst="roundRect">
            <a:avLst/>
          </a:prstGeom>
          <a:solidFill>
            <a:srgbClr val="142A50"/>
          </a:solidFill>
          <a:ln w="15240"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Manual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2880360" cy="2514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Authentication and routing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API response validation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Happy-path and negative-path checks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Fallback and retry behaviour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5204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520440" cy="713232"/>
          </a:xfrm>
          <a:prstGeom prst="roundRect">
            <a:avLst/>
          </a:prstGeom>
          <a:solidFill>
            <a:srgbClr val="268F4A"/>
          </a:solidFill>
          <a:ln w="15240"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8988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Golden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48840"/>
            <a:ext cx="2880360" cy="2514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Expected response verification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Phone normalisation and masking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Policy and claim ID grounding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Session persistence and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234440"/>
            <a:ext cx="35204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520440" cy="713232"/>
          </a:xfrm>
          <a:prstGeom prst="roundRect">
            <a:avLst/>
          </a:prstGeom>
          <a:solidFill>
            <a:srgbClr val="F44F13"/>
          </a:solidFill>
          <a:ln w="15240"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38988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Scenario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48840"/>
            <a:ext cx="2880360" cy="2514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End-to-end conversations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Multi-policy customer journey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Claim creation and renewal</a:t>
            </a:r>
          </a:p>
          <a:p>
            <a:pPr>
              <a:spcAft>
                <a:spcPts val="700"/>
              </a:spcAft>
              <a:defRPr sz="15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Escalation with context transfer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23560"/>
            <a:ext cx="10972800" cy="59436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724144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44F13"/>
                </a:solidFill>
                <a:latin typeface="Aptos"/>
              </a:rPr>
              <a:t>EDGE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687568"/>
            <a:ext cx="8915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2A37"/>
                </a:solidFill>
                <a:latin typeface="Aptos"/>
              </a:rPr>
              <a:t>Wrong phone/DOB • Wrong security answers • Invalid policy/claim ID • No active policy • Multiple policies • API failure/timeout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Replace placeholders with final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649224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344168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71016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A50"/>
                </a:solidFill>
                <a:latin typeface="Aptos"/>
              </a:rPr>
              <a:t>Intent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271016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Measures correct intent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216039"/>
            <a:ext cx="68580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600" b="1">
                <a:solidFill>
                  <a:srgbClr val="F44F13"/>
                </a:solidFill>
                <a:latin typeface="Aptos"/>
              </a:rPr>
              <a:t>98%</a:t>
            </a:r>
            <a:endParaRPr sz="1600" b="1">
              <a:solidFill>
                <a:srgbClr val="F44F1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1984248"/>
            <a:ext cx="649224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8952" y="2093976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20824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A50"/>
                </a:solidFill>
                <a:latin typeface="Aptos"/>
              </a:rPr>
              <a:t>Authentication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20824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Measures successful customer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65847"/>
            <a:ext cx="68580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600" b="1">
                <a:solidFill>
                  <a:srgbClr val="F44F13"/>
                </a:solidFill>
                <a:latin typeface="Aptos"/>
              </a:rPr>
              <a:t>100</a:t>
            </a:r>
            <a:r>
              <a:rPr sz="1600" b="1">
                <a:solidFill>
                  <a:srgbClr val="F44F13"/>
                </a:solidFill>
                <a:latin typeface="Aptos"/>
              </a:rPr>
              <a:t>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34056"/>
            <a:ext cx="649224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8952" y="2843784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770632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A50"/>
                </a:solidFill>
                <a:latin typeface="Aptos"/>
              </a:rPr>
              <a:t>Automation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770632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Journeys completed without human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715655"/>
            <a:ext cx="68580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600" b="1">
                <a:solidFill>
                  <a:srgbClr val="F44F13"/>
                </a:solidFill>
                <a:latin typeface="Aptos"/>
              </a:rPr>
              <a:t>85</a:t>
            </a:r>
            <a:r>
              <a:rPr sz="1600" b="1">
                <a:solidFill>
                  <a:srgbClr val="F44F13"/>
                </a:solidFill>
                <a:latin typeface="Aptos"/>
              </a:rPr>
              <a:t>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83864"/>
            <a:ext cx="649224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58952" y="3593592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520440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A50"/>
                </a:solidFill>
                <a:latin typeface="Aptos"/>
              </a:rPr>
              <a:t>Scenario Pass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520440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End-to-end evaluations passed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0709" y="3479978"/>
            <a:ext cx="968827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600" b="1">
                <a:solidFill>
                  <a:srgbClr val="F44F13"/>
                </a:solidFill>
                <a:latin typeface="Aptos"/>
              </a:rPr>
              <a:t>90.48%</a:t>
            </a:r>
            <a:endParaRPr sz="1600" b="1">
              <a:solidFill>
                <a:srgbClr val="F44F13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4233672"/>
            <a:ext cx="649224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8952" y="4343400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270248"/>
            <a:ext cx="2057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A50"/>
                </a:solidFill>
                <a:latin typeface="Aptos"/>
              </a:rPr>
              <a:t>Escalation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270248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Journeys transferred to a human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0994" y="4215271"/>
            <a:ext cx="68580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600" b="1">
                <a:solidFill>
                  <a:srgbClr val="F44F13"/>
                </a:solidFill>
                <a:latin typeface="Aptos"/>
              </a:rPr>
              <a:t>15%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83479"/>
            <a:ext cx="649224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58952" y="5093207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857356"/>
            <a:ext cx="2057400" cy="55399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sz="1500" b="1">
                <a:solidFill>
                  <a:srgbClr val="142A50"/>
                </a:solidFill>
                <a:latin typeface="Aptos"/>
              </a:rPr>
              <a:t>Average </a:t>
            </a:r>
            <a:r>
              <a:rPr lang="en-US" sz="1500" b="1">
                <a:solidFill>
                  <a:srgbClr val="142A50"/>
                </a:solidFill>
                <a:latin typeface="Aptos"/>
              </a:rPr>
              <a:t>Turns Per Session</a:t>
            </a:r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3246120" y="5020055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Expected reduction versus manual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0995" y="4965078"/>
            <a:ext cx="68580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600" b="1">
                <a:solidFill>
                  <a:srgbClr val="F44F13"/>
                </a:solidFill>
                <a:latin typeface="Aptos"/>
              </a:rPr>
              <a:t>6.98 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234440"/>
            <a:ext cx="4206240" cy="5074920"/>
          </a:xfrm>
          <a:prstGeom prst="roundRect">
            <a:avLst/>
          </a:prstGeom>
          <a:solidFill>
            <a:srgbClr val="142A50"/>
          </a:solidFill>
          <a:ln w="15240"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1536192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240280"/>
            <a:ext cx="3383280" cy="2606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500">
                <a:solidFill>
                  <a:srgbClr val="FFFFFF"/>
                </a:solidFill>
                <a:latin typeface="Aptos"/>
              </a:rPr>
              <a:t>• Fewer repetitive calls handled manually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500">
                <a:solidFill>
                  <a:srgbClr val="FFFFFF"/>
                </a:solidFill>
                <a:latin typeface="Aptos"/>
              </a:rPr>
              <a:t>• Consistent and grounded customer responses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500">
                <a:solidFill>
                  <a:srgbClr val="FFFFFF"/>
                </a:solidFill>
                <a:latin typeface="Aptos"/>
              </a:rPr>
              <a:t>• Reduced handling time for common requests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500">
                <a:solidFill>
                  <a:srgbClr val="FFFFFF"/>
                </a:solidFill>
                <a:latin typeface="Aptos"/>
              </a:rPr>
              <a:t>• Seamless transfer when human support is needed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500">
                <a:solidFill>
                  <a:srgbClr val="FFFFFF"/>
                </a:solidFill>
                <a:latin typeface="Aptos"/>
              </a:rPr>
              <a:t>• Scalable foundation for more insurance journeys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End-to-End Demo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Complete customer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74519"/>
            <a:ext cx="777240" cy="777240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A37"/>
                </a:solidFill>
                <a:latin typeface="Aptos"/>
              </a:rPr>
              <a:t>Customer Call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2258568"/>
            <a:ext cx="914400" cy="0"/>
          </a:xfrm>
          <a:prstGeom prst="line">
            <a:avLst/>
          </a:prstGeom>
          <a:ln w="3556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23160" y="1874519"/>
            <a:ext cx="777240" cy="777240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432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A37"/>
                </a:solidFill>
                <a:latin typeface="Aptos"/>
              </a:rPr>
              <a:t>Authenticate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46120" y="2258568"/>
            <a:ext cx="914400" cy="0"/>
          </a:xfrm>
          <a:prstGeom prst="line">
            <a:avLst/>
          </a:prstGeom>
          <a:ln w="3556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206240" y="1874519"/>
            <a:ext cx="777240" cy="777240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7432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A37"/>
                </a:solidFill>
                <a:latin typeface="Aptos"/>
              </a:rPr>
              <a:t>Detect Intent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2258568"/>
            <a:ext cx="914400" cy="0"/>
          </a:xfrm>
          <a:prstGeom prst="line">
            <a:avLst/>
          </a:prstGeom>
          <a:ln w="3556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989320" y="1874519"/>
            <a:ext cx="777240" cy="777240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432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A37"/>
                </a:solidFill>
                <a:latin typeface="Aptos"/>
              </a:rPr>
              <a:t>Specialist 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2280" y="2258568"/>
            <a:ext cx="914399" cy="0"/>
          </a:xfrm>
          <a:prstGeom prst="line">
            <a:avLst/>
          </a:prstGeom>
          <a:ln w="3556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72400" y="1874519"/>
            <a:ext cx="777240" cy="777240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432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A37"/>
                </a:solidFill>
                <a:latin typeface="Aptos"/>
              </a:rPr>
              <a:t>Backend Action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60" y="2258568"/>
            <a:ext cx="914399" cy="0"/>
          </a:xfrm>
          <a:prstGeom prst="line">
            <a:avLst/>
          </a:prstGeom>
          <a:ln w="35560">
            <a:solidFill>
              <a:srgbClr val="F44F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555480" y="1874519"/>
            <a:ext cx="777240" cy="777240"/>
          </a:xfrm>
          <a:prstGeom prst="ellipse">
            <a:avLst/>
          </a:prstGeom>
          <a:solidFill>
            <a:srgbClr val="CD3737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7432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2A37"/>
                </a:solidFill>
                <a:latin typeface="Aptos"/>
              </a:rPr>
              <a:t>Respond / Escalate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23360"/>
            <a:ext cx="10835640" cy="14173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2A50"/>
                </a:solidFill>
                <a:latin typeface="Aptos"/>
              </a:rPr>
              <a:t>BUSINESS IMPACT</a:t>
            </a:r>
          </a:p>
        </p:txBody>
      </p:sp>
      <p:sp>
        <p:nvSpPr>
          <p:cNvPr id="27" name="Oval 26"/>
          <p:cNvSpPr/>
          <p:nvPr/>
        </p:nvSpPr>
        <p:spPr>
          <a:xfrm>
            <a:off x="2743200" y="4270248"/>
            <a:ext cx="347472" cy="347472"/>
          </a:xfrm>
          <a:prstGeom prst="ellipse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8795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A50"/>
                </a:solidFill>
                <a:latin typeface="Aptos"/>
              </a:rPr>
              <a:t>Faster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98848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Immediate response for routine requests</a:t>
            </a:r>
          </a:p>
        </p:txBody>
      </p:sp>
      <p:sp>
        <p:nvSpPr>
          <p:cNvPr id="30" name="Oval 29"/>
          <p:cNvSpPr/>
          <p:nvPr/>
        </p:nvSpPr>
        <p:spPr>
          <a:xfrm>
            <a:off x="4892040" y="4270248"/>
            <a:ext cx="347472" cy="347472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18795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A50"/>
                </a:solidFill>
                <a:latin typeface="Aptos"/>
              </a:rPr>
              <a:t>Better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498848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Grounded answers from APIs and data</a:t>
            </a:r>
          </a:p>
        </p:txBody>
      </p:sp>
      <p:sp>
        <p:nvSpPr>
          <p:cNvPr id="33" name="Oval 32"/>
          <p:cNvSpPr/>
          <p:nvPr/>
        </p:nvSpPr>
        <p:spPr>
          <a:xfrm>
            <a:off x="7040880" y="4270248"/>
            <a:ext cx="347472" cy="347472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8795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A50"/>
                </a:solidFill>
                <a:latin typeface="Aptos"/>
              </a:rPr>
              <a:t>Lower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498848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More journeys automated</a:t>
            </a:r>
          </a:p>
        </p:txBody>
      </p:sp>
      <p:sp>
        <p:nvSpPr>
          <p:cNvPr id="36" name="Oval 35"/>
          <p:cNvSpPr/>
          <p:nvPr/>
        </p:nvSpPr>
        <p:spPr>
          <a:xfrm>
            <a:off x="9189720" y="4270248"/>
            <a:ext cx="347472" cy="347472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18795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A50"/>
                </a:solidFill>
                <a:latin typeface="Aptos"/>
              </a:rPr>
              <a:t>Better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498848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D"/>
                </a:solidFill>
                <a:latin typeface="Aptos"/>
              </a:rPr>
              <a:t>Context preserved across the journey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7548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2600" b="1">
                <a:solidFill>
                  <a:srgbClr val="142A50"/>
                </a:solidFill>
                <a:latin typeface="Aptos"/>
              </a:rPr>
              <a:t>Key Learnings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46E7D"/>
                </a:solidFill>
                <a:latin typeface="Aptos"/>
              </a:rPr>
              <a:t>What the team gained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474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D"/>
                </a:solidFill>
                <a:latin typeface="Aptos"/>
              </a:rPr>
              <a:t>Conversational AI Voice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4406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440680" cy="640080"/>
          </a:xfrm>
          <a:prstGeom prst="roundRect">
            <a:avLst/>
          </a:prstGeom>
          <a:solidFill>
            <a:srgbClr val="142A50"/>
          </a:solidFill>
          <a:ln w="15240"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394960" cy="640080"/>
          </a:xfrm>
          <a:prstGeom prst="roundRect">
            <a:avLst/>
          </a:prstGeom>
          <a:solidFill>
            <a:srgbClr val="F44F13"/>
          </a:solidFill>
          <a:ln w="15240"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389888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KEY LEARNINGS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4846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4754880" cy="3291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Multi-agent design in Google CX Agent Studio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Secure authentication and session handling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Prompt engineering and response grounding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Backend API and BigQuery integration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Manual, golden and scenario-based testing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Requirement analysis, teamwork and debugging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4663440" cy="3291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Support more insurance products and journeys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Proactive renewal and claim notifications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Multilingual voice interactions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Sentiment-aware escalation and prioritisation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Operational dashboards and advanced analytics</a:t>
            </a:r>
          </a:p>
          <a:p>
            <a:pPr>
              <a:spcAft>
                <a:spcPts val="900"/>
              </a:spcAft>
              <a:defRPr sz="1600">
                <a:solidFill>
                  <a:srgbClr val="222A37"/>
                </a:solidFill>
                <a:latin typeface="Aptos"/>
              </a:defRPr>
            </a:pPr>
            <a:r>
              <a:rPr sz="1500">
                <a:solidFill>
                  <a:srgbClr val="222A37"/>
                </a:solidFill>
                <a:latin typeface="Aptos"/>
              </a:rPr>
              <a:t>• Continuous optimisation using production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08208" y="6419088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F44F13"/>
                </a:solidFill>
                <a:latin typeface="Aptos Display"/>
              </a:rPr>
              <a:t>EXL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42A50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4320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44F13"/>
                </a:solidFill>
                <a:latin typeface="Apto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8620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A50"/>
                </a:solidFill>
                <a:latin typeface="Aptos"/>
              </a:rPr>
              <a:t>Conversational AI Voice Agent for Insurance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434840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46E7D"/>
                </a:solidFill>
                <a:latin typeface="Aptos"/>
              </a:rPr>
              <a:t>Secure conversations. Faster service. Better customer experiences.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594360"/>
            <a:ext cx="5074920" cy="562356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105156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2A50"/>
                </a:solidFill>
                <a:latin typeface="Aptos"/>
              </a:rPr>
              <a:t>From customer call to confident resolution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1874519"/>
            <a:ext cx="1920240" cy="1920240"/>
          </a:xfrm>
          <a:prstGeom prst="ellipse">
            <a:avLst/>
          </a:prstGeom>
          <a:solidFill>
            <a:srgbClr val="FFEBE2"/>
          </a:solidFill>
          <a:ln>
            <a:solidFill>
              <a:srgbClr val="FF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32520" y="2148840"/>
            <a:ext cx="731520" cy="1143000"/>
          </a:xfrm>
          <a:prstGeom prst="roundRect">
            <a:avLst/>
          </a:prstGeom>
          <a:solidFill>
            <a:srgbClr val="F44F13"/>
          </a:solidFill>
          <a:ln>
            <a:solidFill>
              <a:srgbClr val="F44F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61704" y="3273552"/>
            <a:ext cx="73152" cy="502920"/>
          </a:xfrm>
          <a:prstGeom prst="rect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59952" y="3730752"/>
            <a:ext cx="685800" cy="54864"/>
          </a:xfrm>
          <a:prstGeom prst="rect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5623560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6E7D"/>
                </a:solidFill>
                <a:latin typeface="Aptos"/>
              </a:rPr>
              <a:t>Final Project Presentation | EXL Internship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4681728"/>
            <a:ext cx="1353312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013448" y="4855464"/>
            <a:ext cx="329184" cy="329184"/>
          </a:xfrm>
          <a:prstGeom prst="ellipse">
            <a:avLst/>
          </a:prstGeom>
          <a:solidFill>
            <a:srgbClr val="142A50"/>
          </a:solidFill>
          <a:ln>
            <a:solidFill>
              <a:srgbClr val="14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4782312"/>
            <a:ext cx="768096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42A50"/>
                </a:solidFill>
                <a:latin typeface="Aptos"/>
              </a:rPr>
              <a:t>Secure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4681728"/>
            <a:ext cx="1353312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67928" y="4855464"/>
            <a:ext cx="329184" cy="329184"/>
          </a:xfrm>
          <a:prstGeom prst="ellipse">
            <a:avLst/>
          </a:prstGeom>
          <a:solidFill>
            <a:srgbClr val="225FA8"/>
          </a:solidFill>
          <a:ln>
            <a:solidFill>
              <a:srgbClr val="22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4782312"/>
            <a:ext cx="768096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42A50"/>
                </a:solidFill>
                <a:latin typeface="Aptos"/>
              </a:rPr>
              <a:t>Smart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4681728"/>
            <a:ext cx="1353312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22407" y="4855464"/>
            <a:ext cx="329184" cy="329184"/>
          </a:xfrm>
          <a:prstGeom prst="ellipse">
            <a:avLst/>
          </a:prstGeom>
          <a:solidFill>
            <a:srgbClr val="268F4A"/>
          </a:solidFill>
          <a:ln>
            <a:solidFill>
              <a:srgbClr val="268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8167" y="4782312"/>
            <a:ext cx="768096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42A50"/>
                </a:solidFill>
                <a:latin typeface="Aptos"/>
              </a:rPr>
              <a:t>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      Conversational AI Voice Agent for Insurance  Policy &amp; Claims Automation using Google CX Agent Studio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2026-07-13T16:09:14Z</dcterms:modified>
  <cp:category/>
</cp:coreProperties>
</file>